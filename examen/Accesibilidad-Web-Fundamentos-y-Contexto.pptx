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Barlow" panose="020F0502020204030204" pitchFamily="2" charset="0"/>
      <p:regular r:id="rId13"/>
    </p:embeddedFont>
    <p:embeddedFont>
      <p:font typeface="Consolas" panose="020B0609020204030204" pitchFamily="49" charset="0"/>
      <p:regular r:id="rId14"/>
      <p:bold r:id="rId15"/>
      <p:italic r:id="rId16"/>
      <p:boldItalic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2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66714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Relationship Id="rId9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13" Type="http://schemas.openxmlformats.org/officeDocument/2006/relationships/image" Target="../media/image34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7.sv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svg"/><Relationship Id="rId4" Type="http://schemas.openxmlformats.org/officeDocument/2006/relationships/image" Target="../media/image25.svg"/><Relationship Id="rId9" Type="http://schemas.openxmlformats.org/officeDocument/2006/relationships/image" Target="../media/image30.png"/><Relationship Id="rId14" Type="http://schemas.openxmlformats.org/officeDocument/2006/relationships/image" Target="../media/image35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12" Type="http://schemas.openxmlformats.org/officeDocument/2006/relationships/image" Target="../media/image45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9.sv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0" Type="http://schemas.openxmlformats.org/officeDocument/2006/relationships/image" Target="../media/image43.svg"/><Relationship Id="rId4" Type="http://schemas.openxmlformats.org/officeDocument/2006/relationships/image" Target="../media/image37.svg"/><Relationship Id="rId9" Type="http://schemas.openxmlformats.org/officeDocument/2006/relationships/image" Target="../media/image4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2651284"/>
            <a:ext cx="741592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Accesibilidad Web: Fundamentos y Contexto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864037" y="4393168"/>
            <a:ext cx="7415927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Bienvenidos a esta presentación sobre accesibilidad web. Exploraremos sus principios fundamentales, importancia y aplicación práctica, especialmente para portafolios personales.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1541264"/>
            <a:ext cx="6176843" cy="548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¿Qué es la Accesibilidad Web?</a:t>
            </a:r>
            <a:endParaRPr lang="en-US" sz="3450" dirty="0"/>
          </a:p>
        </p:txBody>
      </p:sp>
      <p:sp>
        <p:nvSpPr>
          <p:cNvPr id="4" name="Text 1"/>
          <p:cNvSpPr/>
          <p:nvPr/>
        </p:nvSpPr>
        <p:spPr>
          <a:xfrm>
            <a:off x="6350437" y="2460069"/>
            <a:ext cx="7415927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La accesibilidad web es un conjunto de principios y prácticas que aseguran que todas las personas, independientemente de sus capacidades físicas, cognitivas, sensoriales o tecnológicas, puedan navegar, comprender, interactuar y contribuir a un sitio web.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6350437" y="4317921"/>
            <a:ext cx="7415927" cy="2370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Su objetivo principal es eliminar las barreras que limitan el acceso a la información, especialmente para personas con discapacidades visuales, auditivas, motoras o intelectuales, personas mayores, usuarios con conexiones a internet lentas o aquellos que dependen de tecnologías de asistencia como lectores de pantalla o teclados especiales.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9836" y="476369"/>
            <a:ext cx="6302931" cy="374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¿Por qué es importante la accesibilidad web?</a:t>
            </a:r>
            <a:endParaRPr lang="en-US" sz="2350" dirty="0"/>
          </a:p>
        </p:txBody>
      </p:sp>
      <p:sp>
        <p:nvSpPr>
          <p:cNvPr id="3" name="Shape 1"/>
          <p:cNvSpPr/>
          <p:nvPr/>
        </p:nvSpPr>
        <p:spPr>
          <a:xfrm>
            <a:off x="589836" y="1188006"/>
            <a:ext cx="6641068" cy="1915954"/>
          </a:xfrm>
          <a:prstGeom prst="roundRect">
            <a:avLst>
              <a:gd name="adj" fmla="val 13195"/>
            </a:avLst>
          </a:prstGeom>
          <a:solidFill>
            <a:srgbClr val="0A081B"/>
          </a:solidFill>
          <a:ln w="15240">
            <a:solidFill>
              <a:srgbClr val="16FF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73549" y="1371719"/>
            <a:ext cx="505539" cy="505539"/>
          </a:xfrm>
          <a:prstGeom prst="roundRect">
            <a:avLst>
              <a:gd name="adj" fmla="val 18085817"/>
            </a:avLst>
          </a:prstGeom>
          <a:solidFill>
            <a:srgbClr val="16FFB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2495" y="1510665"/>
            <a:ext cx="227528" cy="2275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3549" y="2045732"/>
            <a:ext cx="1872615" cy="234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Inclusión Digital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73549" y="2380893"/>
            <a:ext cx="6273641" cy="539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Asegura que todos puedan usar sitios web, fomentando un mundo digital más equitativo.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399377" y="1188006"/>
            <a:ext cx="6641187" cy="1915954"/>
          </a:xfrm>
          <a:prstGeom prst="roundRect">
            <a:avLst>
              <a:gd name="adj" fmla="val 13195"/>
            </a:avLst>
          </a:prstGeom>
          <a:solidFill>
            <a:srgbClr val="0A081B"/>
          </a:solidFill>
          <a:ln w="15240">
            <a:solidFill>
              <a:srgbClr val="29DD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583091" y="1371719"/>
            <a:ext cx="505539" cy="505539"/>
          </a:xfrm>
          <a:prstGeom prst="roundRect">
            <a:avLst>
              <a:gd name="adj" fmla="val 18085817"/>
            </a:avLst>
          </a:prstGeom>
          <a:solidFill>
            <a:srgbClr val="29DDD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22037" y="1510665"/>
            <a:ext cx="227528" cy="22752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583091" y="2045732"/>
            <a:ext cx="1872615" cy="234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Cumplimiento Legal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7583091" y="2380893"/>
            <a:ext cx="6273760" cy="269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Muchos países exigen la accesibilidad web como una obligación legal.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89836" y="3272433"/>
            <a:ext cx="6641068" cy="1915954"/>
          </a:xfrm>
          <a:prstGeom prst="roundRect">
            <a:avLst>
              <a:gd name="adj" fmla="val 13195"/>
            </a:avLst>
          </a:prstGeom>
          <a:solidFill>
            <a:srgbClr val="0A081B"/>
          </a:solidFill>
          <a:ln w="15240">
            <a:solidFill>
              <a:srgbClr val="37A7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773549" y="3456146"/>
            <a:ext cx="505539" cy="505539"/>
          </a:xfrm>
          <a:prstGeom prst="roundRect">
            <a:avLst>
              <a:gd name="adj" fmla="val 18085817"/>
            </a:avLst>
          </a:prstGeom>
          <a:solidFill>
            <a:srgbClr val="37A7E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12495" y="3595092"/>
            <a:ext cx="227528" cy="22752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73549" y="4130159"/>
            <a:ext cx="2881432" cy="234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Experiencia de Usuario Mejorada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773549" y="4465320"/>
            <a:ext cx="6273641" cy="539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Un sitio accesible bien diseñado beneficia a todos los usuarios, no solo a aquellos con discapacidades.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7399377" y="3272433"/>
            <a:ext cx="6641187" cy="1915954"/>
          </a:xfrm>
          <a:prstGeom prst="roundRect">
            <a:avLst>
              <a:gd name="adj" fmla="val 13195"/>
            </a:avLst>
          </a:prstGeom>
          <a:solidFill>
            <a:srgbClr val="0A081B"/>
          </a:solidFill>
          <a:ln w="15240">
            <a:solidFill>
              <a:srgbClr val="0912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7583091" y="3456146"/>
            <a:ext cx="505539" cy="505539"/>
          </a:xfrm>
          <a:prstGeom prst="roundRect">
            <a:avLst>
              <a:gd name="adj" fmla="val 18085817"/>
            </a:avLst>
          </a:prstGeom>
          <a:solidFill>
            <a:srgbClr val="09123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22037" y="3595092"/>
            <a:ext cx="227528" cy="22752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583091" y="4130159"/>
            <a:ext cx="1872615" cy="234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Mayor Alcance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7583091" y="4465320"/>
            <a:ext cx="6273760" cy="269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Expande significativamente tu audiencia y base de usuarios potenciales.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589836" y="5377934"/>
            <a:ext cx="6641068" cy="1915954"/>
          </a:xfrm>
          <a:prstGeom prst="roundRect">
            <a:avLst>
              <a:gd name="adj" fmla="val 13195"/>
            </a:avLst>
          </a:prstGeom>
          <a:solidFill>
            <a:srgbClr val="0A081B"/>
          </a:solidFill>
          <a:ln w="15240">
            <a:solidFill>
              <a:srgbClr val="16FF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773549" y="5561648"/>
            <a:ext cx="505539" cy="505539"/>
          </a:xfrm>
          <a:prstGeom prst="roundRect">
            <a:avLst>
              <a:gd name="adj" fmla="val 18085817"/>
            </a:avLst>
          </a:prstGeom>
          <a:solidFill>
            <a:srgbClr val="16FFB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12495" y="5700593"/>
            <a:ext cx="227528" cy="22752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73549" y="6235660"/>
            <a:ext cx="1872615" cy="234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Mejor SEO</a:t>
            </a:r>
            <a:endParaRPr lang="en-US" sz="1450" dirty="0"/>
          </a:p>
        </p:txBody>
      </p:sp>
      <p:sp>
        <p:nvSpPr>
          <p:cNvPr id="27" name="Text 20"/>
          <p:cNvSpPr/>
          <p:nvPr/>
        </p:nvSpPr>
        <p:spPr>
          <a:xfrm>
            <a:off x="773549" y="6570821"/>
            <a:ext cx="6273641" cy="539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Los motores de búsqueda favorecen los sitios accesibles, semánticamente correctos y bien estructurados.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7399377" y="5377934"/>
            <a:ext cx="6641187" cy="1915954"/>
          </a:xfrm>
          <a:prstGeom prst="roundRect">
            <a:avLst>
              <a:gd name="adj" fmla="val 13195"/>
            </a:avLst>
          </a:prstGeom>
          <a:solidFill>
            <a:srgbClr val="0A081B"/>
          </a:solidFill>
          <a:ln w="15240">
            <a:solidFill>
              <a:srgbClr val="29DD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2"/>
          <p:cNvSpPr/>
          <p:nvPr/>
        </p:nvSpPr>
        <p:spPr>
          <a:xfrm>
            <a:off x="7583091" y="5561648"/>
            <a:ext cx="505539" cy="505539"/>
          </a:xfrm>
          <a:prstGeom prst="roundRect">
            <a:avLst>
              <a:gd name="adj" fmla="val 18085817"/>
            </a:avLst>
          </a:prstGeom>
          <a:solidFill>
            <a:srgbClr val="29DDD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722037" y="5700593"/>
            <a:ext cx="227528" cy="227528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583091" y="6235660"/>
            <a:ext cx="1872615" cy="234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Usabilidad Universal</a:t>
            </a:r>
            <a:endParaRPr lang="en-US" sz="1450" dirty="0"/>
          </a:p>
        </p:txBody>
      </p:sp>
      <p:sp>
        <p:nvSpPr>
          <p:cNvPr id="32" name="Text 24"/>
          <p:cNvSpPr/>
          <p:nvPr/>
        </p:nvSpPr>
        <p:spPr>
          <a:xfrm>
            <a:off x="7583091" y="6570821"/>
            <a:ext cx="6273760" cy="269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Hace que el contenido sea más claro, más utilizable y universalmente comprensible.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589836" y="7483435"/>
            <a:ext cx="13450729" cy="269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Un sitio accesible no es solo un beneficio técnico; es una responsabilidad social.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4368" y="514112"/>
            <a:ext cx="7530465" cy="415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Principios Básicos de Accesibilidad Web (WCAG)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54368" y="1303496"/>
            <a:ext cx="13321665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Las Pautas de Accesibilidad al Contenido Web (WCAG) resumen la accesibilidad en cuatro principios fundamentales: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54368" y="1812846"/>
            <a:ext cx="6567368" cy="2894171"/>
          </a:xfrm>
          <a:prstGeom prst="roundRect">
            <a:avLst>
              <a:gd name="adj" fmla="val 3791"/>
            </a:avLst>
          </a:prstGeom>
          <a:solidFill>
            <a:srgbClr val="0A081B">
              <a:alpha val="75000"/>
            </a:srgbClr>
          </a:solidFill>
          <a:ln w="22860">
            <a:solidFill>
              <a:srgbClr val="16FF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31508" y="1812846"/>
            <a:ext cx="91440" cy="2894171"/>
          </a:xfrm>
          <a:prstGeom prst="roundRect">
            <a:avLst>
              <a:gd name="adj" fmla="val 306720"/>
            </a:avLst>
          </a:prstGeom>
          <a:solidFill>
            <a:srgbClr val="16FF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32736" y="2022634"/>
            <a:ext cx="2077403" cy="259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Perceptible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32736" y="2394466"/>
            <a:ext cx="6079212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La información debe presentarse de formas que los usuarios puedan percibir.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32736" y="3104793"/>
            <a:ext cx="6079212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Texto alternativo para imágenes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32736" y="3469243"/>
            <a:ext cx="6079212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Subtítulos para videos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932736" y="3833693"/>
            <a:ext cx="6079212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Contraste de color suficiente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932736" y="4198144"/>
            <a:ext cx="6079212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Fuentes legibles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408664" y="1812846"/>
            <a:ext cx="6567368" cy="2894171"/>
          </a:xfrm>
          <a:prstGeom prst="roundRect">
            <a:avLst>
              <a:gd name="adj" fmla="val 3791"/>
            </a:avLst>
          </a:prstGeom>
          <a:solidFill>
            <a:srgbClr val="0A081B">
              <a:alpha val="75000"/>
            </a:srgbClr>
          </a:solidFill>
          <a:ln w="22860">
            <a:solidFill>
              <a:srgbClr val="29DD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385804" y="1812846"/>
            <a:ext cx="91440" cy="2894171"/>
          </a:xfrm>
          <a:prstGeom prst="roundRect">
            <a:avLst>
              <a:gd name="adj" fmla="val 306720"/>
            </a:avLst>
          </a:prstGeom>
          <a:solidFill>
            <a:srgbClr val="29DD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687032" y="2022634"/>
            <a:ext cx="2077403" cy="259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Operable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87032" y="2394466"/>
            <a:ext cx="6079212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Los usuarios deben poder interactuar con la interfaz y navegar por el contenido.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687032" y="3104793"/>
            <a:ext cx="6079212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Navegación por teclado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687032" y="3469243"/>
            <a:ext cx="6079212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Botones y enlaces accesibles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687032" y="3833693"/>
            <a:ext cx="6079212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Evitar animaciones que puedan causar convulsiones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687032" y="4198144"/>
            <a:ext cx="6079212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No se requieren movimientos precisos del ratón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54368" y="4893945"/>
            <a:ext cx="6567368" cy="2828806"/>
          </a:xfrm>
          <a:prstGeom prst="roundRect">
            <a:avLst>
              <a:gd name="adj" fmla="val 3879"/>
            </a:avLst>
          </a:prstGeom>
          <a:solidFill>
            <a:srgbClr val="0A081B">
              <a:alpha val="75000"/>
            </a:srgbClr>
          </a:solidFill>
          <a:ln w="22860">
            <a:solidFill>
              <a:srgbClr val="37A7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31508" y="4893945"/>
            <a:ext cx="91440" cy="2828806"/>
          </a:xfrm>
          <a:prstGeom prst="roundRect">
            <a:avLst>
              <a:gd name="adj" fmla="val 306720"/>
            </a:avLst>
          </a:prstGeom>
          <a:solidFill>
            <a:srgbClr val="37A7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32736" y="5103733"/>
            <a:ext cx="2077403" cy="259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Comprensible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32736" y="5475565"/>
            <a:ext cx="6079212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El contenido y el funcionamiento de la interfaz de usuario deben ser comprensibles.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932736" y="6185892"/>
            <a:ext cx="6079212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Lenguaje sencillo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932736" y="6550342"/>
            <a:ext cx="6079212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Instrucciones claras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932736" y="6914793"/>
            <a:ext cx="6079212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Formularios accesibles con etiquetas claras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7408664" y="4893945"/>
            <a:ext cx="6567368" cy="2828806"/>
          </a:xfrm>
          <a:prstGeom prst="roundRect">
            <a:avLst>
              <a:gd name="adj" fmla="val 3879"/>
            </a:avLst>
          </a:prstGeom>
          <a:solidFill>
            <a:srgbClr val="0A081B">
              <a:alpha val="75000"/>
            </a:srgbClr>
          </a:solidFill>
          <a:ln w="22860">
            <a:solidFill>
              <a:srgbClr val="0912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385804" y="4893945"/>
            <a:ext cx="91440" cy="2828806"/>
          </a:xfrm>
          <a:prstGeom prst="roundRect">
            <a:avLst>
              <a:gd name="adj" fmla="val 306720"/>
            </a:avLst>
          </a:prstGeom>
          <a:solidFill>
            <a:srgbClr val="0912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687032" y="5103733"/>
            <a:ext cx="2077403" cy="259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Robusto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687032" y="5475565"/>
            <a:ext cx="6079212" cy="897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El contenido debe ser lo suficientemente robusto como para ser interpretado de forma fiable por una amplia gama de agentes de usuario, incluidas las tecnologías de asistencia.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7687032" y="6484977"/>
            <a:ext cx="6079212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Código bien estructurado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7687032" y="6849428"/>
            <a:ext cx="6079212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Etiquetas HTML correctas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7687032" y="7213878"/>
            <a:ext cx="6079212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Compatibilidad con lectores de pantalla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0314" y="479465"/>
            <a:ext cx="391251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Estándares y Regulaciones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10314" y="1586270"/>
            <a:ext cx="6492240" cy="1607582"/>
          </a:xfrm>
          <a:prstGeom prst="roundRect">
            <a:avLst>
              <a:gd name="adj" fmla="val 6826"/>
            </a:avLst>
          </a:prstGeom>
          <a:solidFill>
            <a:srgbClr val="0A081B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10314" y="1563410"/>
            <a:ext cx="6492240" cy="91440"/>
          </a:xfrm>
          <a:prstGeom prst="roundRect">
            <a:avLst>
              <a:gd name="adj" fmla="val 286073"/>
            </a:avLst>
          </a:prstGeom>
          <a:solidFill>
            <a:srgbClr val="16FF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594854" y="1324689"/>
            <a:ext cx="523161" cy="523161"/>
          </a:xfrm>
          <a:prstGeom prst="roundRect">
            <a:avLst>
              <a:gd name="adj" fmla="val 174784"/>
            </a:avLst>
          </a:prstGeom>
          <a:solidFill>
            <a:srgbClr val="16FFB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51778" y="1481614"/>
            <a:ext cx="209193" cy="2091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7482" y="2022158"/>
            <a:ext cx="5372457" cy="242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WCAG (Directrices de Accesibilidad para el Contenido Web)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07482" y="2438519"/>
            <a:ext cx="6097905" cy="558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Define los niveles A, AA y AAA para medir el cumplimiento, proporcionando un referente global para la accesibilidad.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10314" y="3629739"/>
            <a:ext cx="6492240" cy="1607582"/>
          </a:xfrm>
          <a:prstGeom prst="roundRect">
            <a:avLst>
              <a:gd name="adj" fmla="val 6826"/>
            </a:avLst>
          </a:prstGeom>
          <a:solidFill>
            <a:srgbClr val="0A081B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10314" y="3606879"/>
            <a:ext cx="6492240" cy="91440"/>
          </a:xfrm>
          <a:prstGeom prst="roundRect">
            <a:avLst>
              <a:gd name="adj" fmla="val 286073"/>
            </a:avLst>
          </a:prstGeom>
          <a:solidFill>
            <a:srgbClr val="29DD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594854" y="3368159"/>
            <a:ext cx="523161" cy="523161"/>
          </a:xfrm>
          <a:prstGeom prst="roundRect">
            <a:avLst>
              <a:gd name="adj" fmla="val 174784"/>
            </a:avLst>
          </a:prstGeom>
          <a:solidFill>
            <a:srgbClr val="16FFB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51778" y="3525083"/>
            <a:ext cx="209193" cy="20919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07482" y="4065627"/>
            <a:ext cx="3345537" cy="242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WAI (Iniciativa de Accesibilidad Web)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807482" y="4481989"/>
            <a:ext cx="6097905" cy="558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Una organización del W3C responsable de promover estándares y mejores prácticas globales de accesibilidad web.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10314" y="5673209"/>
            <a:ext cx="6492240" cy="1886664"/>
          </a:xfrm>
          <a:prstGeom prst="roundRect">
            <a:avLst>
              <a:gd name="adj" fmla="val 5816"/>
            </a:avLst>
          </a:prstGeom>
          <a:solidFill>
            <a:srgbClr val="0A081B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610314" y="5650349"/>
            <a:ext cx="6492240" cy="91440"/>
          </a:xfrm>
          <a:prstGeom prst="roundRect">
            <a:avLst>
              <a:gd name="adj" fmla="val 286073"/>
            </a:avLst>
          </a:prstGeom>
          <a:solidFill>
            <a:srgbClr val="37A7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3594854" y="5411629"/>
            <a:ext cx="523161" cy="523161"/>
          </a:xfrm>
          <a:prstGeom prst="roundRect">
            <a:avLst>
              <a:gd name="adj" fmla="val 174784"/>
            </a:avLst>
          </a:prstGeom>
          <a:solidFill>
            <a:srgbClr val="16FFB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751778" y="5568553"/>
            <a:ext cx="209193" cy="20919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07482" y="6109097"/>
            <a:ext cx="2483287" cy="242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Marcos Legales Nacionales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807482" y="6525458"/>
            <a:ext cx="6097905" cy="83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Muchos países tienen leyes (por ejemplo, ADA en EE. UU., DDA en el Reino Unido) que exigen la accesibilidad digital, incluido el acceso a tecnologías y contenido en línea.</a:t>
            </a:r>
            <a:endParaRPr lang="en-US" sz="135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35466" y="1324689"/>
            <a:ext cx="6492240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668" y="460534"/>
            <a:ext cx="8873609" cy="371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Aplicando la Accesibilidad a Sitios Web Personales y Portafolios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85668" y="1167051"/>
            <a:ext cx="13459063" cy="267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Incluso los sitios web personales y portafolios deben esforzarse por la accesibilidad. He aquí por qué: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85668" y="1623060"/>
            <a:ext cx="669369" cy="1004173"/>
          </a:xfrm>
          <a:prstGeom prst="roundRect">
            <a:avLst>
              <a:gd name="adj" fmla="val 360045"/>
            </a:avLst>
          </a:prstGeom>
          <a:solidFill>
            <a:srgbClr val="0A081B"/>
          </a:solidFill>
          <a:ln w="15240">
            <a:solidFill>
              <a:srgbClr val="16FF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4861" y="1968222"/>
            <a:ext cx="250984" cy="313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1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422321" y="1790343"/>
            <a:ext cx="1859518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Profesionalismo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422321" y="2123122"/>
            <a:ext cx="12622411" cy="267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Demuestra buenas prácticas de desarrollo.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85668" y="2794516"/>
            <a:ext cx="669369" cy="1004173"/>
          </a:xfrm>
          <a:prstGeom prst="roundRect">
            <a:avLst>
              <a:gd name="adj" fmla="val 360045"/>
            </a:avLst>
          </a:prstGeom>
          <a:solidFill>
            <a:srgbClr val="0A081B"/>
          </a:solidFill>
          <a:ln w="15240">
            <a:solidFill>
              <a:srgbClr val="29DD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94861" y="3139678"/>
            <a:ext cx="250984" cy="313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2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422321" y="2961799"/>
            <a:ext cx="2089428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Mejora de la Reputación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422321" y="3294578"/>
            <a:ext cx="12622411" cy="267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Aumenta la credibilidad del desarrollador.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85668" y="3965972"/>
            <a:ext cx="669369" cy="1004173"/>
          </a:xfrm>
          <a:prstGeom prst="roundRect">
            <a:avLst>
              <a:gd name="adj" fmla="val 360045"/>
            </a:avLst>
          </a:prstGeom>
          <a:solidFill>
            <a:srgbClr val="0A081B"/>
          </a:solidFill>
          <a:ln w="15240">
            <a:solidFill>
              <a:srgbClr val="37A7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94861" y="4311134"/>
            <a:ext cx="250984" cy="313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3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422321" y="4133255"/>
            <a:ext cx="1859518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Mayor Alcance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422321" y="4466034"/>
            <a:ext cx="12622411" cy="267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Permite que reclutadores con discapacidades accedan a tu trabajo.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85668" y="5137428"/>
            <a:ext cx="669369" cy="1004173"/>
          </a:xfrm>
          <a:prstGeom prst="roundRect">
            <a:avLst>
              <a:gd name="adj" fmla="val 360045"/>
            </a:avLst>
          </a:prstGeom>
          <a:solidFill>
            <a:srgbClr val="0A081B"/>
          </a:solidFill>
          <a:ln w="15240">
            <a:solidFill>
              <a:srgbClr val="0912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94861" y="5482590"/>
            <a:ext cx="250984" cy="313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4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422321" y="5304711"/>
            <a:ext cx="1859518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Compromiso Ético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422321" y="5637490"/>
            <a:ext cx="12622411" cy="267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Refleja una postura inclusiva y ética.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85668" y="6308884"/>
            <a:ext cx="669369" cy="1004173"/>
          </a:xfrm>
          <a:prstGeom prst="roundRect">
            <a:avLst>
              <a:gd name="adj" fmla="val 360045"/>
            </a:avLst>
          </a:prstGeom>
          <a:solidFill>
            <a:srgbClr val="0A081B"/>
          </a:solidFill>
          <a:ln w="15240">
            <a:solidFill>
              <a:srgbClr val="16FF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94861" y="6654046"/>
            <a:ext cx="250984" cy="313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5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422321" y="6476167"/>
            <a:ext cx="1859518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Valor de Mercado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422321" y="6808946"/>
            <a:ext cx="12622411" cy="267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Los empleadores valoran el conocimiento en accesibilidad.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85668" y="7501295"/>
            <a:ext cx="13459063" cy="267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Un portafolio que sirva como ejemplo técnico debe mostrar una comprensión de cómo construir interfaces para todos.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0803" y="558522"/>
            <a:ext cx="7835860" cy="451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Ejemplos de Buenas Prácticas para Portafolios</a:t>
            </a:r>
            <a:endParaRPr lang="en-US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0803" y="1416010"/>
            <a:ext cx="507683" cy="50768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0803" y="2177534"/>
            <a:ext cx="2707600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Colores de Alto Contraste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10803" y="2581513"/>
            <a:ext cx="6477476" cy="649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Evita combinaciones como gris claro sobre blanco o amarillo sobre verde para una legibilidad óptima.</a:t>
            </a:r>
            <a:endParaRPr lang="en-US" sz="1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42121" y="1416010"/>
            <a:ext cx="507683" cy="50768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42121" y="2177534"/>
            <a:ext cx="2256830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Tipografía Legible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7442121" y="2581513"/>
            <a:ext cx="6477476" cy="649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Usa tamaños de fuente apropiados, fuentes claras y espaciado suficiente para facilitar la lectura.</a:t>
            </a:r>
            <a:endParaRPr lang="en-US" sz="15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0803" y="3637478"/>
            <a:ext cx="507683" cy="50768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10803" y="4399002"/>
            <a:ext cx="3421856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Texto Alternativo para Imágenes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710803" y="4802981"/>
            <a:ext cx="6477476" cy="649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Incluye texto alternativo descriptivo para todas las imágenes informativas, logotipos y capturas de pantalla de proyectos.</a:t>
            </a:r>
            <a:endParaRPr lang="en-US" sz="15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42121" y="3637478"/>
            <a:ext cx="507683" cy="50768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42121" y="4399002"/>
            <a:ext cx="2256830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HTML Estructurado</a:t>
            </a:r>
            <a:endParaRPr lang="en-US" sz="1750" dirty="0"/>
          </a:p>
        </p:txBody>
      </p:sp>
      <p:sp>
        <p:nvSpPr>
          <p:cNvPr id="14" name="Text 8"/>
          <p:cNvSpPr/>
          <p:nvPr/>
        </p:nvSpPr>
        <p:spPr>
          <a:xfrm>
            <a:off x="7442121" y="4802981"/>
            <a:ext cx="6477476" cy="649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Usa una jerarquía de encabezados adecuada (h1, h2, h3, etc.) y etiquetas HTML semánticas.</a:t>
            </a:r>
            <a:endParaRPr lang="en-US" sz="15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10803" y="5858947"/>
            <a:ext cx="507683" cy="50768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10803" y="6620470"/>
            <a:ext cx="2531864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Navegación por Teclado</a:t>
            </a:r>
            <a:endParaRPr lang="en-US" sz="1750" dirty="0"/>
          </a:p>
        </p:txBody>
      </p:sp>
      <p:sp>
        <p:nvSpPr>
          <p:cNvPr id="17" name="Text 10"/>
          <p:cNvSpPr/>
          <p:nvPr/>
        </p:nvSpPr>
        <p:spPr>
          <a:xfrm>
            <a:off x="710803" y="7024449"/>
            <a:ext cx="6477476" cy="649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Asegúrate de que todo tu sitio sea completamente operable usando solo el teclado, sin necesidad de un ratón.</a:t>
            </a:r>
            <a:endParaRPr lang="en-US" sz="15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442121" y="5858947"/>
            <a:ext cx="507683" cy="507683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7442121" y="6620470"/>
            <a:ext cx="2482691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Formularios Accesibles</a:t>
            </a:r>
            <a:endParaRPr lang="en-US" sz="1750" dirty="0"/>
          </a:p>
        </p:txBody>
      </p:sp>
      <p:sp>
        <p:nvSpPr>
          <p:cNvPr id="20" name="Text 12"/>
          <p:cNvSpPr/>
          <p:nvPr/>
        </p:nvSpPr>
        <p:spPr>
          <a:xfrm>
            <a:off x="7442121" y="7024449"/>
            <a:ext cx="6477476" cy="649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Diseña formularios con etiquetas claras, instrucciones y mensajes de error comprensibles.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7833" y="595670"/>
            <a:ext cx="8810744" cy="4811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0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Cómo implementar accesibilidad en tu portafolio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57833" y="1509832"/>
            <a:ext cx="13114734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Para asegurar que tu portafolio web sea verdaderamente accesible, integra estas técnicas durante todo el desarrollo:</a:t>
            </a:r>
            <a:endParaRPr lang="en-US" sz="1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7833" y="2126933"/>
            <a:ext cx="216456" cy="2164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833" y="2437328"/>
            <a:ext cx="4227195" cy="30480"/>
          </a:xfrm>
          <a:prstGeom prst="rect">
            <a:avLst/>
          </a:prstGeom>
          <a:solidFill>
            <a:srgbClr val="16FF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57833" y="2606516"/>
            <a:ext cx="2456974" cy="300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Estructura Semántica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757833" y="3037165"/>
            <a:ext cx="4227195" cy="2078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Usa etiquetas HTML5 como </a:t>
            </a:r>
            <a:r>
              <a:rPr lang="en-US" sz="1700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&lt;header&gt;</a:t>
            </a:r>
            <a:r>
              <a:rPr lang="en-US" sz="1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</a:t>
            </a:r>
            <a:r>
              <a:rPr lang="en-US" sz="1700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&lt;nav&gt;</a:t>
            </a:r>
            <a:r>
              <a:rPr lang="en-US" sz="1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</a:t>
            </a:r>
            <a:r>
              <a:rPr lang="en-US" sz="1700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&lt;main&gt;</a:t>
            </a:r>
            <a:r>
              <a:rPr lang="en-US" sz="1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</a:t>
            </a:r>
            <a:r>
              <a:rPr lang="en-US" sz="1700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&lt;section&gt;</a:t>
            </a:r>
            <a:r>
              <a:rPr lang="en-US" sz="1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</a:t>
            </a:r>
            <a:r>
              <a:rPr lang="en-US" sz="1700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&lt;article&gt;</a:t>
            </a:r>
            <a:r>
              <a:rPr lang="en-US" sz="1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y </a:t>
            </a:r>
            <a:r>
              <a:rPr lang="en-US" sz="1700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&lt;footer&gt;</a:t>
            </a:r>
            <a:r>
              <a:rPr lang="en-US" sz="1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para ayudar a los lectores de pantalla a entender la organización del contenido. Mantén una jerarquía lógica de encabezados.</a:t>
            </a:r>
            <a:endParaRPr lang="en-US" sz="17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01483" y="2126933"/>
            <a:ext cx="216456" cy="216456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201483" y="2437328"/>
            <a:ext cx="4227314" cy="30480"/>
          </a:xfrm>
          <a:prstGeom prst="rect">
            <a:avLst/>
          </a:prstGeom>
          <a:solidFill>
            <a:srgbClr val="29DD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5201483" y="2606516"/>
            <a:ext cx="2406015" cy="300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Atributos ARIA</a:t>
            </a:r>
            <a:endParaRPr lang="en-US" sz="1850" dirty="0"/>
          </a:p>
        </p:txBody>
      </p:sp>
      <p:sp>
        <p:nvSpPr>
          <p:cNvPr id="11" name="Text 7"/>
          <p:cNvSpPr/>
          <p:nvPr/>
        </p:nvSpPr>
        <p:spPr>
          <a:xfrm>
            <a:off x="5201483" y="3037165"/>
            <a:ext cx="4227314" cy="1732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Cuando el HTML nativo no es suficiente, usa atributos ARIA como </a:t>
            </a:r>
            <a:r>
              <a:rPr lang="en-US" sz="1700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aria-label</a:t>
            </a:r>
            <a:r>
              <a:rPr lang="en-US" sz="1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para etiquetas descriptivas, </a:t>
            </a:r>
            <a:r>
              <a:rPr lang="en-US" sz="1700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aria-hidden="true"</a:t>
            </a:r>
            <a:r>
              <a:rPr lang="en-US" sz="1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para ocultar elementos decorativos, y </a:t>
            </a:r>
            <a:r>
              <a:rPr lang="en-US" sz="1700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role</a:t>
            </a:r>
            <a:r>
              <a:rPr lang="en-US" sz="1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para definir el propósito del elemento.</a:t>
            </a:r>
            <a:endParaRPr lang="en-US" sz="17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45253" y="2126933"/>
            <a:ext cx="216456" cy="216456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9645253" y="2437328"/>
            <a:ext cx="4227195" cy="30480"/>
          </a:xfrm>
          <a:prstGeom prst="rect">
            <a:avLst/>
          </a:prstGeom>
          <a:solidFill>
            <a:srgbClr val="37A7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/>
          <p:nvPr/>
        </p:nvSpPr>
        <p:spPr>
          <a:xfrm>
            <a:off x="9645253" y="2606516"/>
            <a:ext cx="2646402" cy="300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Formularios Accesibles</a:t>
            </a:r>
            <a:endParaRPr lang="en-US" sz="1850" dirty="0"/>
          </a:p>
        </p:txBody>
      </p:sp>
      <p:sp>
        <p:nvSpPr>
          <p:cNvPr id="15" name="Text 10"/>
          <p:cNvSpPr/>
          <p:nvPr/>
        </p:nvSpPr>
        <p:spPr>
          <a:xfrm>
            <a:off x="9645253" y="3037165"/>
            <a:ext cx="4227195" cy="1732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Cada campo de entrada necesita una </a:t>
            </a:r>
            <a:r>
              <a:rPr lang="en-US" sz="1700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&lt;label&gt;</a:t>
            </a:r>
            <a:r>
              <a:rPr lang="en-US" sz="1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asociada usando el atributo </a:t>
            </a:r>
            <a:r>
              <a:rPr lang="en-US" sz="1700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 Los mensajes de error deben ser claros y vinculados a los campos usando </a:t>
            </a:r>
            <a:r>
              <a:rPr lang="en-US" sz="1700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aria-describedby</a:t>
            </a:r>
            <a:r>
              <a:rPr lang="en-US" sz="1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</a:t>
            </a:r>
            <a:endParaRPr lang="en-US" sz="17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57833" y="5521881"/>
            <a:ext cx="216456" cy="216456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757833" y="5832277"/>
            <a:ext cx="6449020" cy="30480"/>
          </a:xfrm>
          <a:prstGeom prst="rect">
            <a:avLst/>
          </a:prstGeom>
          <a:solidFill>
            <a:srgbClr val="0912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2"/>
          <p:cNvSpPr/>
          <p:nvPr/>
        </p:nvSpPr>
        <p:spPr>
          <a:xfrm>
            <a:off x="757833" y="6001464"/>
            <a:ext cx="2698909" cy="300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Navegación por Teclado</a:t>
            </a:r>
            <a:endParaRPr lang="en-US" sz="1850" dirty="0"/>
          </a:p>
        </p:txBody>
      </p:sp>
      <p:sp>
        <p:nvSpPr>
          <p:cNvPr id="19" name="Text 13"/>
          <p:cNvSpPr/>
          <p:nvPr/>
        </p:nvSpPr>
        <p:spPr>
          <a:xfrm>
            <a:off x="757833" y="6432113"/>
            <a:ext cx="6449020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Asegúrate de que todos los elementos interactivos (enlaces, botones, formularios) sean accesibles mediante la tecla Tab. El orden de enfoque debe ser lógico y consistente.</a:t>
            </a:r>
            <a:endParaRPr lang="en-US" sz="17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423309" y="5521881"/>
            <a:ext cx="216456" cy="216456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7423309" y="5832277"/>
            <a:ext cx="6449139" cy="30480"/>
          </a:xfrm>
          <a:prstGeom prst="rect">
            <a:avLst/>
          </a:prstGeom>
          <a:solidFill>
            <a:srgbClr val="16FF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5"/>
          <p:cNvSpPr/>
          <p:nvPr/>
        </p:nvSpPr>
        <p:spPr>
          <a:xfrm>
            <a:off x="7423309" y="6001464"/>
            <a:ext cx="2447806" cy="300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Multimedia Accesible</a:t>
            </a:r>
            <a:endParaRPr lang="en-US" sz="1850" dirty="0"/>
          </a:p>
        </p:txBody>
      </p:sp>
      <p:sp>
        <p:nvSpPr>
          <p:cNvPr id="23" name="Text 16"/>
          <p:cNvSpPr/>
          <p:nvPr/>
        </p:nvSpPr>
        <p:spPr>
          <a:xfrm>
            <a:off x="7423309" y="6432113"/>
            <a:ext cx="6449139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Proporciona texto alt para todas las imágenes informativas. Para videos, incluye subtítulos y transcripciones.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7338" y="895112"/>
            <a:ext cx="6214229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Herramientas para Evaluar la Accesibilidad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7338" y="1627703"/>
            <a:ext cx="13415724" cy="277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Varias herramientas pueden ayudarte a verificar el nivel de accesibilidad de tu sitio web:</a:t>
            </a: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958" y="2213967"/>
            <a:ext cx="3246001" cy="2082522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9786" y="2213967"/>
            <a:ext cx="3246001" cy="208252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4613" y="2213967"/>
            <a:ext cx="3246001" cy="2082522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69441" y="2213967"/>
            <a:ext cx="3246001" cy="2082522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607338" y="4605099"/>
            <a:ext cx="6621066" cy="1277898"/>
          </a:xfrm>
          <a:prstGeom prst="roundRect">
            <a:avLst>
              <a:gd name="adj" fmla="val 32594"/>
            </a:avLst>
          </a:prstGeom>
          <a:solidFill>
            <a:srgbClr val="0A081B"/>
          </a:solidFill>
          <a:ln w="15240">
            <a:solidFill>
              <a:srgbClr val="16FF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3"/>
          <p:cNvSpPr/>
          <p:nvPr/>
        </p:nvSpPr>
        <p:spPr>
          <a:xfrm>
            <a:off x="796052" y="4793813"/>
            <a:ext cx="5096113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WAVE (Herramienta de Evaluación de Accesibilidad Web)</a:t>
            </a:r>
            <a:endParaRPr lang="en-US" sz="1500" dirty="0"/>
          </a:p>
        </p:txBody>
      </p:sp>
      <p:sp>
        <p:nvSpPr>
          <p:cNvPr id="10" name="Text 4"/>
          <p:cNvSpPr/>
          <p:nvPr/>
        </p:nvSpPr>
        <p:spPr>
          <a:xfrm>
            <a:off x="796052" y="5138976"/>
            <a:ext cx="6243638" cy="55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Una extensión de navegador que identifica errores de accesibilidad y sugiere mejoras directamente en la página.</a:t>
            </a:r>
            <a:endParaRPr lang="en-US" sz="1350" dirty="0"/>
          </a:p>
        </p:txBody>
      </p:sp>
      <p:sp>
        <p:nvSpPr>
          <p:cNvPr id="11" name="Shape 5"/>
          <p:cNvSpPr/>
          <p:nvPr/>
        </p:nvSpPr>
        <p:spPr>
          <a:xfrm>
            <a:off x="7401877" y="4605099"/>
            <a:ext cx="6621185" cy="1277898"/>
          </a:xfrm>
          <a:prstGeom prst="roundRect">
            <a:avLst>
              <a:gd name="adj" fmla="val 32594"/>
            </a:avLst>
          </a:prstGeom>
          <a:solidFill>
            <a:srgbClr val="0A081B"/>
          </a:solidFill>
          <a:ln w="15240">
            <a:solidFill>
              <a:srgbClr val="29DD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6"/>
          <p:cNvSpPr/>
          <p:nvPr/>
        </p:nvSpPr>
        <p:spPr>
          <a:xfrm>
            <a:off x="7590592" y="4793813"/>
            <a:ext cx="5377934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Lighthouse (Herramientas para desarrolladores de Chrome)</a:t>
            </a:r>
            <a:endParaRPr lang="en-US" sz="1500" dirty="0"/>
          </a:p>
        </p:txBody>
      </p:sp>
      <p:sp>
        <p:nvSpPr>
          <p:cNvPr id="13" name="Text 7"/>
          <p:cNvSpPr/>
          <p:nvPr/>
        </p:nvSpPr>
        <p:spPr>
          <a:xfrm>
            <a:off x="7590592" y="5138976"/>
            <a:ext cx="6243757" cy="277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Integrada en Chrome, genera informes de accesibilidad, rendimiento y SEO.</a:t>
            </a:r>
            <a:endParaRPr lang="en-US" sz="1350" dirty="0"/>
          </a:p>
        </p:txBody>
      </p:sp>
      <p:sp>
        <p:nvSpPr>
          <p:cNvPr id="14" name="Shape 8"/>
          <p:cNvSpPr/>
          <p:nvPr/>
        </p:nvSpPr>
        <p:spPr>
          <a:xfrm>
            <a:off x="607338" y="6056471"/>
            <a:ext cx="6621066" cy="1277898"/>
          </a:xfrm>
          <a:prstGeom prst="roundRect">
            <a:avLst>
              <a:gd name="adj" fmla="val 32594"/>
            </a:avLst>
          </a:prstGeom>
          <a:solidFill>
            <a:srgbClr val="0A081B"/>
          </a:solidFill>
          <a:ln w="15240">
            <a:solidFill>
              <a:srgbClr val="37A7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9"/>
          <p:cNvSpPr/>
          <p:nvPr/>
        </p:nvSpPr>
        <p:spPr>
          <a:xfrm>
            <a:off x="796052" y="6245185"/>
            <a:ext cx="1928217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axe DevTools</a:t>
            </a:r>
            <a:endParaRPr lang="en-US" sz="1500" dirty="0"/>
          </a:p>
        </p:txBody>
      </p:sp>
      <p:sp>
        <p:nvSpPr>
          <p:cNvPr id="16" name="Text 10"/>
          <p:cNvSpPr/>
          <p:nvPr/>
        </p:nvSpPr>
        <p:spPr>
          <a:xfrm>
            <a:off x="796052" y="6590348"/>
            <a:ext cx="6243638" cy="55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Una extensión de navegador o integración de desarrollo que detecta problemas de accesibilidad en tu código.</a:t>
            </a:r>
            <a:endParaRPr lang="en-US" sz="1350" dirty="0"/>
          </a:p>
        </p:txBody>
      </p:sp>
      <p:sp>
        <p:nvSpPr>
          <p:cNvPr id="17" name="Shape 11"/>
          <p:cNvSpPr/>
          <p:nvPr/>
        </p:nvSpPr>
        <p:spPr>
          <a:xfrm>
            <a:off x="7401877" y="6056471"/>
            <a:ext cx="6621185" cy="1277898"/>
          </a:xfrm>
          <a:prstGeom prst="roundRect">
            <a:avLst>
              <a:gd name="adj" fmla="val 32594"/>
            </a:avLst>
          </a:prstGeom>
          <a:solidFill>
            <a:srgbClr val="0A081B"/>
          </a:solidFill>
          <a:ln w="15240">
            <a:solidFill>
              <a:srgbClr val="0912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2"/>
          <p:cNvSpPr/>
          <p:nvPr/>
        </p:nvSpPr>
        <p:spPr>
          <a:xfrm>
            <a:off x="7590592" y="6245185"/>
            <a:ext cx="3136106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Lectores de Pantalla (NVDA/JAWS)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7590592" y="6590348"/>
            <a:ext cx="6243757" cy="55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Herramientas como NVDA o JAWS te permiten probar la experiencia para usuarios con discapacidad visual.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44841" y="675680"/>
            <a:ext cx="7427119" cy="1090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Conclusión: Construyendo un Futuro Digital Inclusivo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6344841" y="2133719"/>
            <a:ext cx="7427119" cy="1177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La accesibilidad web es un pilar fundamental del desarrollo moderno, no solo para el cumplimiento legal, sino para fomentar una web inclusiva donde todos puedan participar.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6344841" y="3586877"/>
            <a:ext cx="7427119" cy="274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Implementar estas prácticas en tu portafolio personal no solo mejora la experiencia del usuario y el SEO, sino que también refleja tu compromiso ético y profesional como desarrollador. Invertir en accesibilidad significa invertir en un futuro digital más justo y equitativo, donde cada individuo, independientemente de sus capacidades, pueda acceder al contenido y las oportunidades que ofrece la web.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6712744" y="6885623"/>
            <a:ext cx="7059216" cy="392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La accesibilidad no es una característica; es un fundamento.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6344841" y="6609755"/>
            <a:ext cx="30480" cy="944166"/>
          </a:xfrm>
          <a:prstGeom prst="rect">
            <a:avLst/>
          </a:prstGeom>
          <a:solidFill>
            <a:srgbClr val="16FFBB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1149</Words>
  <Application>Microsoft Office PowerPoint</Application>
  <PresentationFormat>Custom</PresentationFormat>
  <Paragraphs>117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Spline Sans Bold</vt:lpstr>
      <vt:lpstr>Consolas</vt:lpstr>
      <vt:lpstr>Arial</vt:lpstr>
      <vt:lpstr>Barlow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Juan Pablo Solano Esquivel</cp:lastModifiedBy>
  <cp:revision>1</cp:revision>
  <dcterms:created xsi:type="dcterms:W3CDTF">2025-11-13T00:25:19Z</dcterms:created>
  <dcterms:modified xsi:type="dcterms:W3CDTF">2025-11-13T00:27:32Z</dcterms:modified>
</cp:coreProperties>
</file>